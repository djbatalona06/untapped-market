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8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A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572000" cy="5486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2600">
                <a:solidFill>
                  <a:srgbClr val="6DA850"/>
                </a:solidFill>
                <a:latin typeface="Calibri"/>
              </a:rPr>
              <a:t>◊  </a:t>
            </a:r>
            <a:r>
              <a:rPr i="1" sz="2200">
                <a:solidFill>
                  <a:srgbClr val="6DA850"/>
                </a:solidFill>
                <a:latin typeface="Georgia"/>
              </a:rPr>
              <a:t>Untapped Market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2377440" cy="3291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48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000" b="1">
                <a:solidFill>
                  <a:srgbClr val="C4831A"/>
                </a:solidFill>
                <a:latin typeface="Calibri"/>
              </a:rPr>
              <a:t>INVESTOR TEASER  · 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10972800" cy="2194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200" b="0" i="1">
                <a:solidFill>
                  <a:srgbClr val="EDE3C8"/>
                </a:solidFill>
                <a:latin typeface="Georgia"/>
              </a:rPr>
              <a:t>Letterboxd for cannabis,</a:t>
            </a:r>
            <a:r>
              <a:rPr sz="5200" b="0" i="1">
                <a:solidFill>
                  <a:srgbClr val="6DA850"/>
                </a:solidFill>
                <a:latin typeface="Georgia"/>
              </a:rPr>
              <a:t/>
            </a:r>
          </a:p>
          <a:p>
            <a:pPr algn="l"/>
            <a:r>
              <a:rPr sz="5200" b="0" i="1">
                <a:solidFill>
                  <a:srgbClr val="6DA850"/>
                </a:solidFill>
                <a:latin typeface="Georgia"/>
              </a:rPr>
              <a:t>built on genetics.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834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1">
                <a:solidFill>
                  <a:srgbClr val="B09A76"/>
                </a:solidFill>
                <a:latin typeface="Calibri"/>
              </a:rPr>
              <a:t>A consumer product around what's actually in the jar — strain genetics, terpenes, lab COAs.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532120"/>
            <a:ext cx="54864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EDE3C8"/>
                </a:solidFill>
                <a:latin typeface="Calibri"/>
              </a:rPr>
              <a:t>DJ Batalona</a:t>
            </a:r>
            <a:r>
              <a:rPr sz="1100" b="0" i="0">
                <a:solidFill>
                  <a:srgbClr val="B09A76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B09A76"/>
                </a:solidFill>
                <a:latin typeface="Calibri"/>
              </a:rPr>
              <a:t>Founder &amp; CEO</a:t>
            </a:r>
            <a:r>
              <a:rPr sz="1100" b="0" i="0">
                <a:solidFill>
                  <a:srgbClr val="B09A76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B09A76"/>
                </a:solidFill>
                <a:latin typeface="Consolas"/>
              </a:rPr>
              <a:t>batalona06@gmail.com  ·  (425) 280-3751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5532120"/>
            <a:ext cx="384048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00" b="1" i="0">
                <a:solidFill>
                  <a:srgbClr val="C4831A"/>
                </a:solidFill>
                <a:latin typeface="Calibri"/>
              </a:rPr>
              <a:t>$1.5M Pre-Seed SAFE</a:t>
            </a:r>
            <a:r>
              <a:rPr sz="1100" b="0" i="0">
                <a:solidFill>
                  <a:srgbClr val="B09A76"/>
                </a:solidFill>
                <a:latin typeface="Calibri"/>
              </a:rPr>
              <a:t/>
            </a:r>
          </a:p>
          <a:p>
            <a:pPr algn="r"/>
            <a:r>
              <a:rPr sz="1100" b="0" i="0">
                <a:solidFill>
                  <a:srgbClr val="B09A76"/>
                </a:solidFill>
                <a:latin typeface="Calibri"/>
              </a:rPr>
              <a:t>PNW launch  ·  Q3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8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DA850"/>
                </a:solidFill>
                <a:latin typeface="Consolas"/>
              </a:rPr>
              <a:t>01  ·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0" i="0">
                <a:solidFill>
                  <a:srgbClr val="EDE3C8"/>
                </a:solidFill>
                <a:latin typeface="Georgia"/>
              </a:rPr>
              <a:t>Leafly and Weedmaps are</a:t>
            </a:r>
            <a:r>
              <a:rPr sz="3600" b="0" i="1">
                <a:solidFill>
                  <a:srgbClr val="C4831A"/>
                </a:solidFill>
                <a:latin typeface="Georgia"/>
              </a:rPr>
              <a:t/>
            </a:r>
          </a:p>
          <a:p>
            <a:pPr algn="l"/>
            <a:r>
              <a:rPr sz="3600" b="0" i="1">
                <a:solidFill>
                  <a:srgbClr val="C4831A"/>
                </a:solidFill>
                <a:latin typeface="Georgia"/>
              </a:rPr>
              <a:t>dispensary marketing platforms.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 i="1">
                <a:solidFill>
                  <a:srgbClr val="B09A76"/>
                </a:solidFill>
                <a:latin typeface="Calibri"/>
              </a:rPr>
              <a:t>No one has built a consumer product around what's actually in the jar.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383280"/>
            <a:ext cx="3566160" cy="2377440"/>
          </a:xfrm>
          <a:prstGeom prst="roundRect">
            <a:avLst>
              <a:gd name="adj" fmla="val 5000"/>
            </a:avLst>
          </a:prstGeom>
          <a:solidFill>
            <a:srgbClr val="18140E"/>
          </a:solidFill>
          <a:ln w="9525">
            <a:solidFill>
              <a:srgbClr val="3C30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383280"/>
            <a:ext cx="3566160" cy="54864"/>
          </a:xfrm>
          <a:prstGeom prst="rect">
            <a:avLst/>
          </a:prstGeom>
          <a:solidFill>
            <a:srgbClr val="C48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3017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1">
                <a:solidFill>
                  <a:srgbClr val="EDE3C8"/>
                </a:solidFill>
                <a:latin typeface="Georgia"/>
              </a:rPr>
              <a:t>Leafly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301752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B09A76"/>
                </a:solidFill>
                <a:latin typeface="Calibri"/>
              </a:rPr>
              <a:t>Dispensary lead-gen.
Reviews are surface-level.
SEO-driven content farm.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383280"/>
            <a:ext cx="3566160" cy="2377440"/>
          </a:xfrm>
          <a:prstGeom prst="roundRect">
            <a:avLst>
              <a:gd name="adj" fmla="val 5000"/>
            </a:avLst>
          </a:prstGeom>
          <a:solidFill>
            <a:srgbClr val="18140E"/>
          </a:solidFill>
          <a:ln w="9525">
            <a:solidFill>
              <a:srgbClr val="3C30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3383280"/>
            <a:ext cx="3566160" cy="54864"/>
          </a:xfrm>
          <a:prstGeom prst="rect">
            <a:avLst/>
          </a:prstGeom>
          <a:solidFill>
            <a:srgbClr val="C48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611880"/>
            <a:ext cx="3017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1">
                <a:solidFill>
                  <a:srgbClr val="EDE3C8"/>
                </a:solidFill>
                <a:latin typeface="Georgia"/>
              </a:rPr>
              <a:t>Weedmaps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251960"/>
            <a:ext cx="301752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B09A76"/>
                </a:solidFill>
                <a:latin typeface="Calibri"/>
              </a:rPr>
              <a:t>Map + ad marketplace.
Margin compression.
No product-level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383280"/>
            <a:ext cx="3566160" cy="2377440"/>
          </a:xfrm>
          <a:prstGeom prst="roundRect">
            <a:avLst>
              <a:gd name="adj" fmla="val 5000"/>
            </a:avLst>
          </a:prstGeom>
          <a:solidFill>
            <a:srgbClr val="18140E"/>
          </a:solidFill>
          <a:ln w="9525">
            <a:solidFill>
              <a:srgbClr val="3C30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3383280"/>
            <a:ext cx="3566160" cy="54864"/>
          </a:xfrm>
          <a:prstGeom prst="rect">
            <a:avLst/>
          </a:prstGeom>
          <a:solidFill>
            <a:srgbClr val="6DA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3611880"/>
            <a:ext cx="3017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1">
                <a:solidFill>
                  <a:srgbClr val="EDE3C8"/>
                </a:solidFill>
                <a:latin typeface="Georgia"/>
              </a:rPr>
              <a:t>What's missing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251960"/>
            <a:ext cx="301752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B09A76"/>
                </a:solidFill>
                <a:latin typeface="Calibri"/>
              </a:rPr>
              <a:t>Strain-level genetics.
Lineage and pheno hunts.
Lab COAs in the consumer flow.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1">
                <a:solidFill>
                  <a:srgbClr val="6DA850"/>
                </a:solidFill>
                <a:latin typeface="Calibri"/>
              </a:rPr>
              <a:t>The jar is the product. Nobody owns the layer underneath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E5C40"/>
                </a:solidFill>
                <a:latin typeface="Consolas"/>
              </a:rPr>
              <a:t>2 /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E5C40"/>
                </a:solidFill>
                <a:latin typeface="Consolas"/>
              </a:rPr>
              <a:t>UNTAPPED MARKET  ·  PNW CANNABIS DISCOVERY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8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DA850"/>
                </a:solidFill>
                <a:latin typeface="Consolas"/>
              </a:rPr>
              <a:t>02  ·  THE WEDGE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0" i="1">
                <a:solidFill>
                  <a:srgbClr val="6DA850"/>
                </a:solidFill>
                <a:latin typeface="Georgia"/>
              </a:rPr>
              <a:t>PNW first. </a:t>
            </a:r>
            <a:r>
              <a:rPr sz="3600" b="0" i="0">
                <a:solidFill>
                  <a:srgbClr val="EDE3C8"/>
                </a:solidFill>
                <a:latin typeface="Georgia"/>
              </a:rPr>
              <a:t>Where cultivar density and lab transparency already matter.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65176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8140E"/>
          </a:solidFill>
          <a:ln w="9525">
            <a:solidFill>
              <a:srgbClr val="3C30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26060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600" b="1" i="0">
                <a:solidFill>
                  <a:srgbClr val="C4831A"/>
                </a:solidFill>
                <a:latin typeface="Georgia"/>
              </a:rPr>
              <a:t>~1,200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20440"/>
            <a:ext cx="2606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B09A76"/>
                </a:solidFill>
                <a:latin typeface="Calibri"/>
              </a:rPr>
              <a:t>Dispensaries
WA + OR combined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65176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8140E"/>
          </a:solidFill>
          <a:ln w="9525">
            <a:solidFill>
              <a:srgbClr val="3C30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2834640"/>
            <a:ext cx="26060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600" b="1" i="0">
                <a:solidFill>
                  <a:srgbClr val="C4831A"/>
                </a:solidFill>
                <a:latin typeface="Georgia"/>
              </a:rPr>
              <a:t>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520440"/>
            <a:ext cx="2606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B09A76"/>
                </a:solidFill>
                <a:latin typeface="Calibri"/>
              </a:rPr>
              <a:t>Cultivar density
in the United States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65176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8140E"/>
          </a:solidFill>
          <a:ln w="9525">
            <a:solidFill>
              <a:srgbClr val="3C30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2834640"/>
            <a:ext cx="26060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600" b="1" i="0">
                <a:solidFill>
                  <a:srgbClr val="C4831A"/>
                </a:solidFill>
                <a:latin typeface="Georgia"/>
              </a:rPr>
              <a:t>$3.4B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520440"/>
            <a:ext cx="2606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B09A76"/>
                </a:solidFill>
                <a:latin typeface="Calibri"/>
              </a:rPr>
              <a:t>Combined PNW
cannabis revenue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265176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8140E"/>
          </a:solidFill>
          <a:ln w="9525">
            <a:solidFill>
              <a:srgbClr val="3C30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2834640"/>
            <a:ext cx="26060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600" b="1" i="0">
                <a:solidFill>
                  <a:srgbClr val="C4831A"/>
                </a:solidFill>
                <a:latin typeface="Georgia"/>
              </a:rPr>
              <a:t>85%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3520440"/>
            <a:ext cx="2606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B09A76"/>
                </a:solidFill>
                <a:latin typeface="Calibri"/>
              </a:rPr>
              <a:t>PNW consumers
check COAs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9768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6DA850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EDE3C8"/>
                </a:solidFill>
                <a:latin typeface="Calibri"/>
              </a:rPr>
              <a:t>Cultivators care about pheno hunting, terp profiles, and provenance — they want their work attributed.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681728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6DA850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681728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EDE3C8"/>
                </a:solidFill>
                <a:latin typeface="Calibri"/>
              </a:rPr>
              <a:t>Dispensaries already display COAs in-store. They have the data, no software surfaces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065776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6DA850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065776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EDE3C8"/>
                </a:solidFill>
                <a:latin typeface="Calibri"/>
              </a:rPr>
              <a:t>PNW consumers are sophisticated. They want what's in the jar, not which dispensary paid for the banner.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449824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6DA850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449824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EDE3C8"/>
                </a:solidFill>
                <a:latin typeface="Calibri"/>
              </a:rPr>
              <a:t>Tight geography = real network effects from day one. Beach-head, then expand to CO, MI, NY.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E5C40"/>
                </a:solidFill>
                <a:latin typeface="Consolas"/>
              </a:rPr>
              <a:t>3 /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E5C40"/>
                </a:solidFill>
                <a:latin typeface="Consolas"/>
              </a:rPr>
              <a:t>UNTAPPED MARKET  ·  PNW CANNABIS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8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DA850"/>
                </a:solidFill>
                <a:latin typeface="Consolas"/>
              </a:rPr>
              <a:t>03  · 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0" i="1">
                <a:solidFill>
                  <a:srgbClr val="EDE3C8"/>
                </a:solidFill>
                <a:latin typeface="Georgia"/>
              </a:rPr>
              <a:t>Three jobs. One app.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566160" cy="4572000"/>
          </a:xfrm>
          <a:prstGeom prst="roundRect">
            <a:avLst>
              <a:gd name="adj" fmla="val 5000"/>
            </a:avLst>
          </a:prstGeom>
          <a:solidFill>
            <a:srgbClr val="18140E"/>
          </a:solidFill>
          <a:ln w="9525">
            <a:solidFill>
              <a:srgbClr val="3C30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011680"/>
            <a:ext cx="3108960" cy="548640"/>
          </a:xfrm>
          <a:prstGeom prst="roundRect">
            <a:avLst>
              <a:gd name="adj" fmla="val 30000"/>
            </a:avLst>
          </a:prstGeom>
          <a:solidFill>
            <a:srgbClr val="201A11"/>
          </a:solidFill>
          <a:ln w="12700">
            <a:solidFill>
              <a:srgbClr val="6DA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75688"/>
            <a:ext cx="29260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6DA850"/>
                </a:solidFill>
                <a:latin typeface="Calibri"/>
              </a:rPr>
              <a:t>Strain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8892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B09A76"/>
                </a:solidFill>
                <a:latin typeface="Consolas"/>
              </a:rPr>
              <a:t>GG#4 · OG Kush × Sour Dubb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37560"/>
            <a:ext cx="2926080" cy="274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EDE3C8"/>
                </a:solidFill>
                <a:latin typeface="Calibri"/>
              </a:rPr>
              <a:t>● Lineage tree (2 generations)
● Lab COA: THC 24.1%, Total terps 2.4%
● Dominant: β-Caryophyllene
● 1,247 saves  ·  4.6 ★ (218 reviews)
● Save  ·  Compare  ·  Track availability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3796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B09A76"/>
                </a:solidFill>
                <a:latin typeface="Calibri"/>
              </a:rPr>
              <a:t>Genetics + COA in the consumer 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783080"/>
            <a:ext cx="3566160" cy="4572000"/>
          </a:xfrm>
          <a:prstGeom prst="roundRect">
            <a:avLst>
              <a:gd name="adj" fmla="val 5000"/>
            </a:avLst>
          </a:prstGeom>
          <a:solidFill>
            <a:srgbClr val="18140E"/>
          </a:solidFill>
          <a:ln w="9525">
            <a:solidFill>
              <a:srgbClr val="3C30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7720" y="2011680"/>
            <a:ext cx="3108960" cy="548640"/>
          </a:xfrm>
          <a:prstGeom prst="roundRect">
            <a:avLst>
              <a:gd name="adj" fmla="val 30000"/>
            </a:avLst>
          </a:prstGeom>
          <a:solidFill>
            <a:srgbClr val="201A11"/>
          </a:solidFill>
          <a:ln w="12700">
            <a:solidFill>
              <a:srgbClr val="C48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075688"/>
            <a:ext cx="29260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C4831A"/>
                </a:solidFill>
                <a:latin typeface="Calibri"/>
              </a:rPr>
              <a:t>Dispensary Finder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78892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B09A76"/>
                </a:solidFill>
                <a:latin typeface="Consolas"/>
              </a:rPr>
              <a:t>Within 8 miles of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337560"/>
            <a:ext cx="2926080" cy="274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EDE3C8"/>
                </a:solidFill>
                <a:latin typeface="Calibri"/>
              </a:rPr>
              <a:t>● Live menu sync (Dutchie + Treez)
● Filters: terps, lineage, COA-only
● Distance · price · stock
● Reserve in app · pickup tonight
● 40 PNW shops live at launch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653796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B09A76"/>
                </a:solidFill>
                <a:latin typeface="Calibri"/>
              </a:rPr>
              <a:t>Live inventory, terp-aware filters.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783080"/>
            <a:ext cx="3566160" cy="4572000"/>
          </a:xfrm>
          <a:prstGeom prst="roundRect">
            <a:avLst>
              <a:gd name="adj" fmla="val 5000"/>
            </a:avLst>
          </a:prstGeom>
          <a:solidFill>
            <a:srgbClr val="18140E"/>
          </a:solidFill>
          <a:ln w="9525">
            <a:solidFill>
              <a:srgbClr val="3C30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66760" y="2011680"/>
            <a:ext cx="3108960" cy="548640"/>
          </a:xfrm>
          <a:prstGeom prst="roundRect">
            <a:avLst>
              <a:gd name="adj" fmla="val 30000"/>
            </a:avLst>
          </a:prstGeom>
          <a:solidFill>
            <a:srgbClr val="201A11"/>
          </a:solidFill>
          <a:ln w="12700">
            <a:solidFill>
              <a:srgbClr val="3A8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2075688"/>
            <a:ext cx="29260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3A8C8A"/>
                </a:solidFill>
                <a:latin typeface="Calibri"/>
              </a:rPr>
              <a:t>Personal Library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78892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B09A76"/>
                </a:solidFill>
                <a:latin typeface="Consolas"/>
              </a:rPr>
              <a:t>Your jar, tracked.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337560"/>
            <a:ext cx="2926080" cy="274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EDE3C8"/>
                </a:solidFill>
                <a:latin typeface="Calibri"/>
              </a:rPr>
              <a:t>● Save strains across batches
● Effects journal with terps tag
● Streaks · top 10 of the year
● Share lists with friends
● Premium: notify when restocked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653796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B09A76"/>
                </a:solidFill>
                <a:latin typeface="Calibri"/>
              </a:rPr>
              <a:t>Letterboxd-style social loop.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E5C40"/>
                </a:solidFill>
                <a:latin typeface="Consolas"/>
              </a:rPr>
              <a:t>4 / 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E5C40"/>
                </a:solidFill>
                <a:latin typeface="Consolas"/>
              </a:rPr>
              <a:t>UNTAPPED MARKET  ·  PNW CANNABIS DISCOVERY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8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DA850"/>
                </a:solidFill>
                <a:latin typeface="Consolas"/>
              </a:rPr>
              <a:t>04  ·  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0" i="0">
                <a:solidFill>
                  <a:srgbClr val="EDE3C8"/>
                </a:solidFill>
                <a:latin typeface="Georgia"/>
              </a:rPr>
              <a:t>The window is </a:t>
            </a:r>
            <a:r>
              <a:rPr sz="3600" b="0" i="1">
                <a:solidFill>
                  <a:srgbClr val="C4831A"/>
                </a:solidFill>
                <a:latin typeface="Georgia"/>
              </a:rPr>
              <a:t>12–18 months</a:t>
            </a:r>
            <a:r>
              <a:rPr sz="3600" b="0" i="0">
                <a:solidFill>
                  <a:srgbClr val="EDE3C8"/>
                </a:solidFill>
                <a:latin typeface="Georgia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200400"/>
            <a:ext cx="10515600" cy="36576"/>
          </a:xfrm>
          <a:prstGeom prst="rect">
            <a:avLst/>
          </a:prstGeom>
          <a:solidFill>
            <a:srgbClr val="3C3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83080" y="3127248"/>
            <a:ext cx="182880" cy="182880"/>
          </a:xfrm>
          <a:prstGeom prst="ellipse">
            <a:avLst/>
          </a:prstGeom>
          <a:solidFill>
            <a:srgbClr val="6DA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2468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6DA850"/>
                </a:solidFill>
                <a:latin typeface="Consolas"/>
              </a:rPr>
              <a:t>APR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2044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18140E"/>
          </a:solidFill>
          <a:ln w="9525">
            <a:solidFill>
              <a:srgbClr val="3C30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2103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EDE3C8"/>
                </a:solidFill>
                <a:latin typeface="Calibri"/>
              </a:rPr>
              <a:t>DEA → Schedule III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97680"/>
            <a:ext cx="210312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B09A76"/>
                </a:solidFill>
                <a:latin typeface="Calibri"/>
              </a:rPr>
              <a:t>Federal banking, ad rails open up.</a:t>
            </a:r>
          </a:p>
        </p:txBody>
      </p:sp>
      <p:sp>
        <p:nvSpPr>
          <p:cNvPr id="11" name="Oval 10"/>
          <p:cNvSpPr/>
          <p:nvPr/>
        </p:nvSpPr>
        <p:spPr>
          <a:xfrm>
            <a:off x="4434840" y="3127248"/>
            <a:ext cx="182880" cy="182880"/>
          </a:xfrm>
          <a:prstGeom prst="ellipse">
            <a:avLst/>
          </a:prstGeom>
          <a:solidFill>
            <a:srgbClr val="C48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2377440"/>
            <a:ext cx="2468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C4831A"/>
                </a:solidFill>
                <a:latin typeface="Consolas"/>
              </a:rPr>
              <a:t>JUN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352044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18140E"/>
          </a:solidFill>
          <a:ln w="9525">
            <a:solidFill>
              <a:srgbClr val="3C30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3657600"/>
            <a:ext cx="2103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EDE3C8"/>
                </a:solidFill>
                <a:latin typeface="Calibri"/>
              </a:rPr>
              <a:t>Further reschedule pending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297680"/>
            <a:ext cx="210312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B09A76"/>
                </a:solidFill>
                <a:latin typeface="Calibri"/>
              </a:rPr>
              <a:t>Interstate commerce moves on the table.</a:t>
            </a:r>
          </a:p>
        </p:txBody>
      </p:sp>
      <p:sp>
        <p:nvSpPr>
          <p:cNvPr id="16" name="Oval 15"/>
          <p:cNvSpPr/>
          <p:nvPr/>
        </p:nvSpPr>
        <p:spPr>
          <a:xfrm>
            <a:off x="7086600" y="3127248"/>
            <a:ext cx="182880" cy="182880"/>
          </a:xfrm>
          <a:prstGeom prst="ellipse">
            <a:avLst/>
          </a:prstGeom>
          <a:solidFill>
            <a:srgbClr val="3A8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2377440"/>
            <a:ext cx="2468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3A8C8A"/>
                </a:solidFill>
                <a:latin typeface="Consolas"/>
              </a:rPr>
              <a:t>2025–26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52044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18140E"/>
          </a:solidFill>
          <a:ln w="9525">
            <a:solidFill>
              <a:srgbClr val="3C30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3657600"/>
            <a:ext cx="2103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EDE3C8"/>
                </a:solidFill>
                <a:latin typeface="Calibri"/>
              </a:rPr>
              <a:t>Cannabis-tech valuations bottom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297680"/>
            <a:ext cx="210312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B09A76"/>
                </a:solidFill>
                <a:latin typeface="Calibri"/>
              </a:rPr>
              <a:t>Capital scarce; surviving teams compound.</a:t>
            </a:r>
          </a:p>
        </p:txBody>
      </p:sp>
      <p:sp>
        <p:nvSpPr>
          <p:cNvPr id="21" name="Oval 20"/>
          <p:cNvSpPr/>
          <p:nvPr/>
        </p:nvSpPr>
        <p:spPr>
          <a:xfrm>
            <a:off x="9738360" y="3127248"/>
            <a:ext cx="182880" cy="182880"/>
          </a:xfrm>
          <a:prstGeom prst="ellipse">
            <a:avLst/>
          </a:prstGeom>
          <a:solidFill>
            <a:srgbClr val="C0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2377440"/>
            <a:ext cx="2468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C04535"/>
                </a:solidFill>
                <a:latin typeface="Consolas"/>
              </a:rPr>
              <a:t>NOW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95360" y="352044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18140E"/>
          </a:solidFill>
          <a:ln w="9525">
            <a:solidFill>
              <a:srgbClr val="3C30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3657600"/>
            <a:ext cx="2103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EDE3C8"/>
                </a:solidFill>
                <a:latin typeface="Calibri"/>
              </a:rPr>
              <a:t>Incumbents stalled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4297680"/>
            <a:ext cx="210312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B09A76"/>
                </a:solidFill>
                <a:latin typeface="Calibri"/>
              </a:rPr>
              <a:t>Leafly distressed; Weedmaps margin-compressed.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98932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1">
                <a:solidFill>
                  <a:srgbClr val="6DA850"/>
                </a:solidFill>
                <a:latin typeface="Calibri"/>
              </a:rPr>
              <a:t>Better products win when incumbents stop investing. We're building while they're cutting.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465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E5C40"/>
                </a:solidFill>
                <a:latin typeface="Consolas"/>
              </a:rPr>
              <a:t>5 / 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E5C40"/>
                </a:solidFill>
                <a:latin typeface="Consolas"/>
              </a:rPr>
              <a:t>UNTAPPED MARKET  ·  PNW CANNABIS DISCOVERY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8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DA850"/>
                </a:solidFill>
                <a:latin typeface="Consolas"/>
              </a:rPr>
              <a:t>05  ·  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0" i="1">
                <a:solidFill>
                  <a:srgbClr val="C4831A"/>
                </a:solidFill>
                <a:latin typeface="Georgia"/>
              </a:rPr>
              <a:t>Pre-launch. </a:t>
            </a:r>
            <a:r>
              <a:rPr sz="3600" b="0" i="0">
                <a:solidFill>
                  <a:srgbClr val="EDE3C8"/>
                </a:solidFill>
                <a:latin typeface="Georgia"/>
              </a:rPr>
              <a:t>Beach-head signal already showing 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2606040" cy="1554480"/>
          </a:xfrm>
          <a:prstGeom prst="roundRect">
            <a:avLst>
              <a:gd name="adj" fmla="val 5000"/>
            </a:avLst>
          </a:prstGeom>
          <a:solidFill>
            <a:srgbClr val="18140E"/>
          </a:solidFill>
          <a:ln w="9525">
            <a:solidFill>
              <a:srgbClr val="3C30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26060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6DA850"/>
                </a:solidFill>
                <a:latin typeface="Georgia"/>
              </a:rPr>
              <a:t>[X]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2606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EDE3C8"/>
                </a:solidFill>
                <a:latin typeface="Calibri"/>
              </a:rPr>
              <a:t>Waitlist signups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2606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B09A76"/>
                </a:solidFill>
                <a:latin typeface="Calibri"/>
              </a:rPr>
              <a:t>Org + paid; ~70% PNW-based.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377440"/>
            <a:ext cx="2606040" cy="1554480"/>
          </a:xfrm>
          <a:prstGeom prst="roundRect">
            <a:avLst>
              <a:gd name="adj" fmla="val 5000"/>
            </a:avLst>
          </a:prstGeom>
          <a:solidFill>
            <a:srgbClr val="18140E"/>
          </a:solidFill>
          <a:ln w="9525">
            <a:solidFill>
              <a:srgbClr val="3C30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2514600"/>
            <a:ext cx="26060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6DA850"/>
                </a:solidFill>
                <a:latin typeface="Georgia"/>
              </a:rPr>
              <a:t>[Y]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246120"/>
            <a:ext cx="2606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EDE3C8"/>
                </a:solidFill>
                <a:latin typeface="Calibri"/>
              </a:rPr>
              <a:t>Dispensary LOIs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566160"/>
            <a:ext cx="2606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B09A76"/>
                </a:solidFill>
                <a:latin typeface="Calibri"/>
              </a:rPr>
              <a:t>Verbal commits to live-menu pilot.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77440"/>
            <a:ext cx="2606040" cy="1554480"/>
          </a:xfrm>
          <a:prstGeom prst="roundRect">
            <a:avLst>
              <a:gd name="adj" fmla="val 5000"/>
            </a:avLst>
          </a:prstGeom>
          <a:solidFill>
            <a:srgbClr val="18140E"/>
          </a:solidFill>
          <a:ln w="9525">
            <a:solidFill>
              <a:srgbClr val="3C30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514600"/>
            <a:ext cx="26060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6DA850"/>
                </a:solidFill>
                <a:latin typeface="Georgia"/>
              </a:rPr>
              <a:t>[Z]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246120"/>
            <a:ext cx="2606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EDE3C8"/>
                </a:solidFill>
                <a:latin typeface="Calibri"/>
              </a:rPr>
              <a:t>Cultivator partners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566160"/>
            <a:ext cx="2606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B09A76"/>
                </a:solidFill>
                <a:latin typeface="Calibri"/>
              </a:rPr>
              <a:t>Pheno-hunt collabs signed.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2377440"/>
            <a:ext cx="2606040" cy="1554480"/>
          </a:xfrm>
          <a:prstGeom prst="roundRect">
            <a:avLst>
              <a:gd name="adj" fmla="val 5000"/>
            </a:avLst>
          </a:prstGeom>
          <a:solidFill>
            <a:srgbClr val="18140E"/>
          </a:solidFill>
          <a:ln w="9525">
            <a:solidFill>
              <a:srgbClr val="3C30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2514600"/>
            <a:ext cx="26060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6DA850"/>
                </a:solidFill>
                <a:latin typeface="Georgia"/>
              </a:rPr>
              <a:t>[W]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3246120"/>
            <a:ext cx="2606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EDE3C8"/>
                </a:solidFill>
                <a:latin typeface="Calibri"/>
              </a:rPr>
              <a:t>Pre-cataloged strains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3566160"/>
            <a:ext cx="2606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B09A76"/>
                </a:solidFill>
                <a:latin typeface="Calibri"/>
              </a:rPr>
              <a:t>With COA + lineage.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E5C40"/>
                </a:solidFill>
                <a:latin typeface="Calibri"/>
              </a:rPr>
              <a:t>Hard numbers populated at send-time. Verified screenshots available on request.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937760"/>
            <a:ext cx="10972800" cy="1280160"/>
          </a:xfrm>
          <a:prstGeom prst="roundRect">
            <a:avLst>
              <a:gd name="adj" fmla="val 5000"/>
            </a:avLst>
          </a:prstGeom>
          <a:solidFill>
            <a:srgbClr val="201A11"/>
          </a:solidFill>
          <a:ln w="9525">
            <a:solidFill>
              <a:srgbClr val="3C30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074920"/>
            <a:ext cx="10424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4831A"/>
                </a:solidFill>
                <a:latin typeface="Consolas"/>
              </a:rPr>
              <a:t>Qualitative signal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349240"/>
            <a:ext cx="1042416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EDE3C8"/>
                </a:solidFill>
                <a:latin typeface="Georgia"/>
              </a:rPr>
              <a:t>"This is what we wished Leafly had been from day one."</a:t>
            </a:r>
            <a:r>
              <a:rPr sz="1100" b="0" i="0">
                <a:solidFill>
                  <a:srgbClr val="B09A76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B09A76"/>
                </a:solidFill>
                <a:latin typeface="Calibri"/>
              </a:rPr>
              <a:t>  — PNW dispensary GM (verbal LOI, March 2026)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E5C40"/>
                </a:solidFill>
                <a:latin typeface="Consolas"/>
              </a:rPr>
              <a:t>6 /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E5C40"/>
                </a:solidFill>
                <a:latin typeface="Consolas"/>
              </a:rPr>
              <a:t>UNTAPPED MARKET  ·  PNW CANNABIS DISCOVERY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8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DA850"/>
                </a:solidFill>
                <a:latin typeface="Consolas"/>
              </a:rPr>
              <a:t>06  · 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0" i="1">
                <a:solidFill>
                  <a:srgbClr val="EDE3C8"/>
                </a:solidFill>
                <a:latin typeface="Georgia"/>
              </a:rPr>
              <a:t>Four streams. Consumer leads, B2B compounds.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577840" cy="2011680"/>
          </a:xfrm>
          <a:prstGeom prst="roundRect">
            <a:avLst>
              <a:gd name="adj" fmla="val 5000"/>
            </a:avLst>
          </a:prstGeom>
          <a:solidFill>
            <a:srgbClr val="18140E"/>
          </a:solidFill>
          <a:ln w="9525">
            <a:solidFill>
              <a:srgbClr val="3C30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73152" cy="2011680"/>
          </a:xfrm>
          <a:prstGeom prst="rect">
            <a:avLst/>
          </a:prstGeom>
          <a:solidFill>
            <a:srgbClr val="6DA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6DA850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31089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EDE3C8"/>
                </a:solidFill>
                <a:latin typeface="Calibri"/>
              </a:rPr>
              <a:t>Consumer subscription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70048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DA850"/>
                </a:solidFill>
                <a:latin typeface="Consolas"/>
              </a:rPr>
              <a:t>$5.99 / mo Premium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310896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B09A76"/>
                </a:solidFill>
                <a:latin typeface="Calibri"/>
              </a:rPr>
              <a:t>Hide ads, save unlimited, get restock alerts, year-end Top 10. Drives engagement and brand.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194560"/>
            <a:ext cx="1828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1" i="0">
                <a:solidFill>
                  <a:srgbClr val="6DA850"/>
                </a:solidFill>
                <a:latin typeface="Georgia"/>
              </a:rPr>
              <a:t>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97180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B09A76"/>
                </a:solidFill>
                <a:latin typeface="Calibri"/>
              </a:rPr>
              <a:t>of Year-1 revenue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828800"/>
            <a:ext cx="5577840" cy="2011680"/>
          </a:xfrm>
          <a:prstGeom prst="roundRect">
            <a:avLst>
              <a:gd name="adj" fmla="val 5000"/>
            </a:avLst>
          </a:prstGeom>
          <a:solidFill>
            <a:srgbClr val="18140E"/>
          </a:solidFill>
          <a:ln w="9525">
            <a:solidFill>
              <a:srgbClr val="3C30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828800"/>
            <a:ext cx="73152" cy="2011680"/>
          </a:xfrm>
          <a:prstGeom prst="rect">
            <a:avLst/>
          </a:prstGeom>
          <a:solidFill>
            <a:srgbClr val="C48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96596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4831A"/>
                </a:solidFill>
                <a:latin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240280"/>
            <a:ext cx="31089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EDE3C8"/>
                </a:solidFill>
                <a:latin typeface="Calibri"/>
              </a:rPr>
              <a:t>B2B SaaS for cultivators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670048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C4831A"/>
                </a:solidFill>
                <a:latin typeface="Consolas"/>
              </a:rPr>
              <a:t>$200–600 / mo per brand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017520"/>
            <a:ext cx="310896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B09A76"/>
                </a:solidFill>
                <a:latin typeface="Calibri"/>
              </a:rPr>
              <a:t>Dashboard for save-rate, regional heatmap, terp-search rank. Cultivators paid for SEO before; now pay for genetics analytics.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2194560"/>
            <a:ext cx="1828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1" i="0">
                <a:solidFill>
                  <a:srgbClr val="C4831A"/>
                </a:solidFill>
                <a:latin typeface="Georgia"/>
              </a:rPr>
              <a:t>$2K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297180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B09A76"/>
                </a:solidFill>
                <a:latin typeface="Calibri"/>
              </a:rPr>
              <a:t>ACV target by Y2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023360"/>
            <a:ext cx="5577840" cy="2011680"/>
          </a:xfrm>
          <a:prstGeom prst="roundRect">
            <a:avLst>
              <a:gd name="adj" fmla="val 5000"/>
            </a:avLst>
          </a:prstGeom>
          <a:solidFill>
            <a:srgbClr val="18140E"/>
          </a:solidFill>
          <a:ln w="9525">
            <a:solidFill>
              <a:srgbClr val="3C30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023360"/>
            <a:ext cx="73152" cy="2011680"/>
          </a:xfrm>
          <a:prstGeom prst="rect">
            <a:avLst/>
          </a:prstGeom>
          <a:solidFill>
            <a:srgbClr val="3A8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16052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3A8C8A"/>
                </a:solidFill>
                <a:latin typeface="Consola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434840"/>
            <a:ext cx="31089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EDE3C8"/>
                </a:solidFill>
                <a:latin typeface="Calibri"/>
              </a:rPr>
              <a:t>Marketplace fees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864608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3A8C8A"/>
                </a:solidFill>
                <a:latin typeface="Consolas"/>
              </a:rPr>
              <a:t>5–8% on reservations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212080"/>
            <a:ext cx="310896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B09A76"/>
                </a:solidFill>
                <a:latin typeface="Calibri"/>
              </a:rPr>
              <a:t>User reserves a strain at a dispensary; we take a margin. Lower friction than ads.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389120"/>
            <a:ext cx="1828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1" i="0">
                <a:solidFill>
                  <a:srgbClr val="3A8C8A"/>
                </a:solidFill>
                <a:latin typeface="Georgia"/>
              </a:rPr>
              <a:t>$5–8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516636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B09A76"/>
                </a:solidFill>
                <a:latin typeface="Calibri"/>
              </a:rPr>
              <a:t>per transaction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023360"/>
            <a:ext cx="5577840" cy="2011680"/>
          </a:xfrm>
          <a:prstGeom prst="roundRect">
            <a:avLst>
              <a:gd name="adj" fmla="val 5000"/>
            </a:avLst>
          </a:prstGeom>
          <a:solidFill>
            <a:srgbClr val="18140E"/>
          </a:solidFill>
          <a:ln w="9525">
            <a:solidFill>
              <a:srgbClr val="3C30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4023360"/>
            <a:ext cx="73152" cy="2011680"/>
          </a:xfrm>
          <a:prstGeom prst="rect">
            <a:avLst/>
          </a:prstGeom>
          <a:solidFill>
            <a:srgbClr val="D4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416052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D4A030"/>
                </a:solidFill>
                <a:latin typeface="Consolas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434840"/>
            <a:ext cx="31089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EDE3C8"/>
                </a:solidFill>
                <a:latin typeface="Calibri"/>
              </a:rPr>
              <a:t>Data licensing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864608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D4A030"/>
                </a:solidFill>
                <a:latin typeface="Consolas"/>
              </a:rPr>
              <a:t>Annual contracts, 6-7 figures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212080"/>
            <a:ext cx="310896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B09A76"/>
                </a:solidFill>
                <a:latin typeface="Calibri"/>
              </a:rPr>
              <a:t>Aggregated, opted-in regional consumption data. Headset and BDSA validated this — we have the consumer signal they don't.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4389120"/>
            <a:ext cx="1828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1" i="0">
                <a:solidFill>
                  <a:srgbClr val="D4A030"/>
                </a:solidFill>
                <a:latin typeface="Georgia"/>
              </a:rPr>
              <a:t>$200K+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516636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B09A76"/>
                </a:solidFill>
                <a:latin typeface="Calibri"/>
              </a:rPr>
              <a:t>median deal size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1">
                <a:solidFill>
                  <a:srgbClr val="6DA850"/>
                </a:solidFill>
                <a:latin typeface="Calibri"/>
              </a:rPr>
              <a:t>Consumer scales the brand. B2B + data licensing scales the margin.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4465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E5C40"/>
                </a:solidFill>
                <a:latin typeface="Consolas"/>
              </a:rPr>
              <a:t>7 / 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E5C40"/>
                </a:solidFill>
                <a:latin typeface="Consolas"/>
              </a:rPr>
              <a:t>UNTAPPED MARKET  ·  PNW CANNABIS DISCOVERY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8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DA850"/>
                </a:solidFill>
                <a:latin typeface="Consolas"/>
              </a:rPr>
              <a:t>07  ·  MARKET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0" i="0">
                <a:solidFill>
                  <a:srgbClr val="EDE3C8"/>
                </a:solidFill>
                <a:latin typeface="Georgia"/>
              </a:rPr>
              <a:t>Beach-head </a:t>
            </a:r>
            <a:r>
              <a:rPr sz="3600" b="0" i="1">
                <a:solidFill>
                  <a:srgbClr val="C4831A"/>
                </a:solidFill>
                <a:latin typeface="Georgia"/>
              </a:rPr>
              <a:t>$5.7M</a:t>
            </a:r>
            <a:r>
              <a:rPr sz="3600" b="0" i="0">
                <a:solidFill>
                  <a:srgbClr val="EDE3C8"/>
                </a:solidFill>
                <a:latin typeface="Georgia"/>
              </a:rPr>
              <a:t>.  National </a:t>
            </a:r>
            <a:r>
              <a:rPr sz="3600" b="0" i="1">
                <a:solidFill>
                  <a:srgbClr val="6DA850"/>
                </a:solidFill>
                <a:latin typeface="Georgia"/>
              </a:rPr>
              <a:t>$250M+</a:t>
            </a:r>
            <a:r>
              <a:rPr sz="3600" b="0" i="0">
                <a:solidFill>
                  <a:srgbClr val="EDE3C8"/>
                </a:solidFill>
                <a:latin typeface="Georgia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3566160" cy="2468880"/>
          </a:xfrm>
          <a:prstGeom prst="roundRect">
            <a:avLst>
              <a:gd name="adj" fmla="val 5000"/>
            </a:avLst>
          </a:prstGeom>
          <a:solidFill>
            <a:srgbClr val="18140E"/>
          </a:solidFill>
          <a:ln w="9525">
            <a:solidFill>
              <a:srgbClr val="3C30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30175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4831A"/>
                </a:solidFill>
                <a:latin typeface="Consolas"/>
              </a:rPr>
              <a:t>PNW B2B ARR Ceiling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301752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5400" b="1" i="0">
                <a:solidFill>
                  <a:srgbClr val="EDE3C8"/>
                </a:solidFill>
                <a:latin typeface="Georgia"/>
              </a:rPr>
              <a:t>$5.7M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30175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B09A76"/>
                </a:solidFill>
                <a:latin typeface="Calibri"/>
              </a:rPr>
              <a:t>~1,200 dispensaries × $400/mo avg ACV.
This is the floor — proof we can lock the wedge.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468880"/>
            <a:ext cx="3566160" cy="2468880"/>
          </a:xfrm>
          <a:prstGeom prst="roundRect">
            <a:avLst>
              <a:gd name="adj" fmla="val 5000"/>
            </a:avLst>
          </a:prstGeom>
          <a:solidFill>
            <a:srgbClr val="18140E"/>
          </a:solidFill>
          <a:ln w="9525">
            <a:solidFill>
              <a:srgbClr val="3C30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697480"/>
            <a:ext cx="30175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6DA850"/>
                </a:solidFill>
                <a:latin typeface="Consolas"/>
              </a:rPr>
              <a:t>National B2B SaaS TAM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154680"/>
            <a:ext cx="301752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5400" b="1" i="0">
                <a:solidFill>
                  <a:srgbClr val="EDE3C8"/>
                </a:solidFill>
                <a:latin typeface="Georgia"/>
              </a:rPr>
              <a:t>$50M+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160520"/>
            <a:ext cx="30175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B09A76"/>
                </a:solidFill>
                <a:latin typeface="Calibri"/>
              </a:rPr>
              <a:t>~12,000 dispensaries + ~2,000 cultivator brands
at $300–600/mo ACV.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468880"/>
            <a:ext cx="3566160" cy="2468880"/>
          </a:xfrm>
          <a:prstGeom prst="roundRect">
            <a:avLst>
              <a:gd name="adj" fmla="val 5000"/>
            </a:avLst>
          </a:prstGeom>
          <a:solidFill>
            <a:srgbClr val="18140E"/>
          </a:solidFill>
          <a:ln w="9525">
            <a:solidFill>
              <a:srgbClr val="3C30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697480"/>
            <a:ext cx="30175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3A8C8A"/>
                </a:solidFill>
                <a:latin typeface="Consolas"/>
              </a:rPr>
              <a:t>National Consumer Sub TAM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154680"/>
            <a:ext cx="301752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5400" b="1" i="0">
                <a:solidFill>
                  <a:srgbClr val="EDE3C8"/>
                </a:solidFill>
                <a:latin typeface="Georgia"/>
              </a:rPr>
              <a:t>$200M+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160520"/>
            <a:ext cx="30175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B09A76"/>
                </a:solidFill>
                <a:latin typeface="Calibri"/>
              </a:rPr>
              <a:t>~52M U.S. cannabis consumers
× 5% Premium conv. × $5.99/mo at maturity.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12080"/>
            <a:ext cx="10972800" cy="914400"/>
          </a:xfrm>
          <a:prstGeom prst="roundRect">
            <a:avLst>
              <a:gd name="adj" fmla="val 5000"/>
            </a:avLst>
          </a:prstGeom>
          <a:solidFill>
            <a:srgbClr val="201A11"/>
          </a:solidFill>
          <a:ln w="9525">
            <a:solidFill>
              <a:srgbClr val="3C30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424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C4831A"/>
                </a:solidFill>
                <a:latin typeface="Consolas"/>
              </a:rPr>
              <a:t>PROOF OF CATEGORY DATA SPEND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69280"/>
            <a:ext cx="10424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EDE3C8"/>
                </a:solidFill>
                <a:latin typeface="Calibri"/>
              </a:rPr>
              <a:t>Headset (Seattle) and BDSA (Boulder) sell aggregated POS data to MSOs and brands. We capture the consumer-signal layer they don't have — earnings calls, regional heatmaps, restock loops.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E5C40"/>
                </a:solidFill>
                <a:latin typeface="Consolas"/>
              </a:rPr>
              <a:t>8 /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E5C40"/>
                </a:solidFill>
                <a:latin typeface="Consolas"/>
              </a:rPr>
              <a:t>UNTAPPED MARKET  ·  PNW CANNABIS DISCOVERY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8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DA850"/>
                </a:solidFill>
                <a:latin typeface="Consolas"/>
              </a:rPr>
              <a:t>08  ·  TEAM &amp;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0" i="1">
                <a:solidFill>
                  <a:srgbClr val="EDE3C8"/>
                </a:solidFill>
                <a:latin typeface="Georgia"/>
              </a:rPr>
              <a:t>Built in the PNW, with PNW operators.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120640" cy="4297680"/>
          </a:xfrm>
          <a:prstGeom prst="roundRect">
            <a:avLst>
              <a:gd name="adj" fmla="val 5000"/>
            </a:avLst>
          </a:prstGeom>
          <a:solidFill>
            <a:srgbClr val="18140E"/>
          </a:solidFill>
          <a:ln w="9525">
            <a:solidFill>
              <a:srgbClr val="3C30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057400"/>
            <a:ext cx="1280160" cy="1280160"/>
          </a:xfrm>
          <a:prstGeom prst="ellipse">
            <a:avLst/>
          </a:prstGeom>
          <a:solidFill>
            <a:srgbClr val="4E7E36"/>
          </a:solidFill>
          <a:ln w="19050">
            <a:solidFill>
              <a:srgbClr val="6DA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128016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600" b="1" i="0">
                <a:solidFill>
                  <a:srgbClr val="09080A"/>
                </a:solidFill>
                <a:latin typeface="Georgia"/>
              </a:rPr>
              <a:t>DJ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10312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EDE3C8"/>
                </a:solidFill>
                <a:latin typeface="Calibri"/>
              </a:rPr>
              <a:t>DJ Batalona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60604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DA850"/>
                </a:solidFill>
                <a:latin typeface="Calibri"/>
              </a:rPr>
              <a:t>Founder &amp; CEO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301752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B09A76"/>
                </a:solidFill>
                <a:latin typeface="Consolas"/>
              </a:rPr>
              <a:t>PNW · (425) 280-3751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466344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EDE3C8"/>
                </a:solidFill>
                <a:latin typeface="Calibri"/>
              </a:rPr>
              <a:t>Building Untapped Market full-time since [start date]. PNW native; rooted in the cultivar community before the app existed. Background in [your background — fill in]. Before this: [prior work]. Why me: I've been the consumer this product is for, and I've sat on both sides of the dispensary counter.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828800"/>
            <a:ext cx="5669280" cy="2057400"/>
          </a:xfrm>
          <a:prstGeom prst="roundRect">
            <a:avLst>
              <a:gd name="adj" fmla="val 5000"/>
            </a:avLst>
          </a:prstGeom>
          <a:solidFill>
            <a:srgbClr val="18140E"/>
          </a:solidFill>
          <a:ln w="9525">
            <a:solidFill>
              <a:srgbClr val="3C30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96596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4831A"/>
                </a:solidFill>
                <a:latin typeface="Consolas"/>
              </a:rPr>
              <a:t>ADVISORS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331720"/>
            <a:ext cx="27432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6DA850"/>
                </a:solidFill>
                <a:latin typeface="Calibri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331720"/>
            <a:ext cx="502920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EDE3C8"/>
                </a:solidFill>
                <a:latin typeface="Calibri"/>
              </a:rPr>
              <a:t>[Advisor 1]  ·  ex-Leafly / Headset / Dutchie operator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79192"/>
            <a:ext cx="27432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6DA850"/>
                </a:solidFill>
                <a:latin typeface="Calibri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679192"/>
            <a:ext cx="502920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EDE3C8"/>
                </a:solidFill>
                <a:latin typeface="Calibri"/>
              </a:rPr>
              <a:t>[Advisor 2]  ·  PNW dispensary chain GM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3026664"/>
            <a:ext cx="27432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6DA850"/>
                </a:solidFill>
                <a:latin typeface="Calibri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026664"/>
            <a:ext cx="502920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EDE3C8"/>
                </a:solidFill>
                <a:latin typeface="Calibri"/>
              </a:rPr>
              <a:t>[Advisor 3]  ·  Cannabis-tech VC / GP at [fund]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374136"/>
            <a:ext cx="27432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6DA850"/>
                </a:solidFill>
                <a:latin typeface="Calibri"/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374136"/>
            <a:ext cx="502920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EDE3C8"/>
                </a:solidFill>
                <a:latin typeface="Calibri"/>
              </a:rPr>
              <a:t>[Advisor 4]  ·  Consumer-app design lead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069080"/>
            <a:ext cx="5669280" cy="2057400"/>
          </a:xfrm>
          <a:prstGeom prst="roundRect">
            <a:avLst>
              <a:gd name="adj" fmla="val 5000"/>
            </a:avLst>
          </a:prstGeom>
          <a:solidFill>
            <a:srgbClr val="18140E"/>
          </a:solidFill>
          <a:ln w="9525">
            <a:solidFill>
              <a:srgbClr val="3C30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420624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6DA850"/>
                </a:solidFill>
                <a:latin typeface="Consolas"/>
              </a:rPr>
              <a:t>NAMED PNW PARTNERS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572000"/>
            <a:ext cx="27432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C4831A"/>
                </a:solidFill>
                <a:latin typeface="Calibri"/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572000"/>
            <a:ext cx="502920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EDE3C8"/>
                </a:solidFill>
                <a:latin typeface="Calibri"/>
              </a:rPr>
              <a:t>[Cultivator A]  ·  Pheno-hunt collab + COA feed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4919472"/>
            <a:ext cx="27432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C4831A"/>
                </a:solidFill>
                <a:latin typeface="Calibri"/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919472"/>
            <a:ext cx="502920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EDE3C8"/>
                </a:solidFill>
                <a:latin typeface="Calibri"/>
              </a:rPr>
              <a:t>[Cultivator B]  ·  Heritage genetics archive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5266944"/>
            <a:ext cx="27432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C4831A"/>
                </a:solidFill>
                <a:latin typeface="Calibri"/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266944"/>
            <a:ext cx="502920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EDE3C8"/>
                </a:solidFill>
                <a:latin typeface="Calibri"/>
              </a:rPr>
              <a:t>[Dispensary chain]  ·  Live-menu pilot, [N] doors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5614416"/>
            <a:ext cx="27432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C4831A"/>
                </a:solidFill>
                <a:latin typeface="Calibri"/>
              </a:rP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614416"/>
            <a:ext cx="502920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EDE3C8"/>
                </a:solidFill>
                <a:latin typeface="Calibri"/>
              </a:rPr>
              <a:t>[Lab partner]  ·  COA data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E5C40"/>
                </a:solidFill>
                <a:latin typeface="Consolas"/>
              </a:rPr>
              <a:t>9 / 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E5C40"/>
                </a:solidFill>
                <a:latin typeface="Consolas"/>
              </a:rPr>
              <a:t>UNTAPPED MARKET  ·  PNW CANNABIS DISCOVERY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8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DA850"/>
                </a:solidFill>
                <a:latin typeface="Consolas"/>
              </a:rPr>
              <a:t>09  ·  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0" i="1">
                <a:solidFill>
                  <a:srgbClr val="6DA850"/>
                </a:solidFill>
                <a:latin typeface="Georgia"/>
              </a:rPr>
              <a:t>$1.5M </a:t>
            </a:r>
            <a:r>
              <a:rPr sz="4400" b="0" i="0">
                <a:solidFill>
                  <a:srgbClr val="EDE3C8"/>
                </a:solidFill>
                <a:latin typeface="Georgia"/>
              </a:rPr>
              <a:t>Pre-Seed SAFE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B09A76"/>
                </a:solidFill>
                <a:latin typeface="Calibri"/>
              </a:rPr>
              <a:t>Post-money valuation cap negotiable. Standard YC SAFE. 18-month runway to seed milestones.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06040"/>
            <a:ext cx="7589520" cy="2651760"/>
          </a:xfrm>
          <a:prstGeom prst="roundRect">
            <a:avLst>
              <a:gd name="adj" fmla="val 5000"/>
            </a:avLst>
          </a:prstGeom>
          <a:solidFill>
            <a:srgbClr val="18140E"/>
          </a:solidFill>
          <a:ln w="9525">
            <a:solidFill>
              <a:srgbClr val="3C30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7040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4831A"/>
                </a:solidFill>
                <a:latin typeface="Consolas"/>
              </a:rPr>
              <a:t>USE OF FUNDS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22860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EDE3C8"/>
                </a:solidFill>
                <a:latin typeface="Calibri"/>
              </a:rPr>
              <a:t>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200400"/>
            <a:ext cx="9144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6DA850"/>
                </a:solidFill>
                <a:latin typeface="Georgia"/>
              </a:rPr>
              <a:t>45%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200400"/>
            <a:ext cx="3840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B09A76"/>
                </a:solidFill>
                <a:latin typeface="Calibri"/>
              </a:rPr>
              <a:t>2 senior + 1 mid; ship iOS GA, B2B dashboard MVP.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67328"/>
            <a:ext cx="22860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EDE3C8"/>
                </a:solidFill>
                <a:latin typeface="Calibri"/>
              </a:rPr>
              <a:t>PNW launch + content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767328"/>
            <a:ext cx="9144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6DA850"/>
                </a:solidFill>
                <a:latin typeface="Georgia"/>
              </a:rPr>
              <a:t>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767328"/>
            <a:ext cx="3840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B09A76"/>
                </a:solidFill>
                <a:latin typeface="Calibri"/>
              </a:rPr>
              <a:t>Cultivator catalog, dispensary onboarding, brand.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34256"/>
            <a:ext cx="22860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EDE3C8"/>
                </a:solidFill>
                <a:latin typeface="Calibri"/>
              </a:rPr>
              <a:t>Founder + 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334256"/>
            <a:ext cx="9144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6DA850"/>
                </a:solidFill>
                <a:latin typeface="Georgia"/>
              </a:rPr>
              <a:t>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4334256"/>
            <a:ext cx="3840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B09A76"/>
                </a:solidFill>
                <a:latin typeface="Calibri"/>
              </a:rPr>
              <a:t>Founder salary, legal (cannabis-aware), infra.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2606040"/>
            <a:ext cx="3200400" cy="2651760"/>
          </a:xfrm>
          <a:prstGeom prst="roundRect">
            <a:avLst>
              <a:gd name="adj" fmla="val 5000"/>
            </a:avLst>
          </a:prstGeom>
          <a:solidFill>
            <a:srgbClr val="201A11"/>
          </a:solidFill>
          <a:ln w="9525">
            <a:solidFill>
              <a:srgbClr val="3C30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743200"/>
            <a:ext cx="2834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6DA850"/>
                </a:solidFill>
                <a:latin typeface="Consolas"/>
              </a:rPr>
              <a:t>MILESTONES TO SEED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200400"/>
            <a:ext cx="2743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6DA850"/>
                </a:solidFill>
                <a:latin typeface="Consola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20040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EDE3C8"/>
                </a:solidFill>
                <a:latin typeface="Calibri"/>
              </a:rPr>
              <a:t>iOS GA · 25K MAU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566160"/>
            <a:ext cx="2743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6DA850"/>
                </a:solidFill>
                <a:latin typeface="Consola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356616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EDE3C8"/>
                </a:solidFill>
                <a:latin typeface="Calibri"/>
              </a:rPr>
              <a:t>40 PNW dispensaries 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931920"/>
            <a:ext cx="2743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6DA850"/>
                </a:solidFill>
                <a:latin typeface="Consola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393192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EDE3C8"/>
                </a:solidFill>
                <a:latin typeface="Calibri"/>
              </a:rPr>
              <a:t>10 paying cultivator brands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4297680"/>
            <a:ext cx="2743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6DA850"/>
                </a:solidFill>
                <a:latin typeface="Consola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29768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EDE3C8"/>
                </a:solidFill>
                <a:latin typeface="Calibri"/>
              </a:rPr>
              <a:t>$15K MRR run-rate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4663440"/>
            <a:ext cx="2743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6DA850"/>
                </a:solidFill>
                <a:latin typeface="Consola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466344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EDE3C8"/>
                </a:solidFill>
                <a:latin typeface="Calibri"/>
              </a:rPr>
              <a:t>First data-licensing pilot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532120"/>
            <a:ext cx="10972800" cy="640080"/>
          </a:xfrm>
          <a:prstGeom prst="roundRect">
            <a:avLst>
              <a:gd name="adj" fmla="val 5000"/>
            </a:avLst>
          </a:prstGeom>
          <a:solidFill>
            <a:srgbClr val="4E7E36"/>
          </a:solidFill>
          <a:ln w="9525">
            <a:solidFill>
              <a:srgbClr val="6DA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532120"/>
            <a:ext cx="1042416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EDE3C8"/>
                </a:solidFill>
                <a:latin typeface="Calibri"/>
              </a:rPr>
              <a:t>DJ Batalona  ·  batalona06@gmail.com  ·  (425) 280-3751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199632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B09A76"/>
                </a:solidFill>
                <a:latin typeface="Calibri"/>
              </a:rPr>
              <a:t>Deck, financial model, and pilot LOIs available on request.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E5C40"/>
                </a:solidFill>
                <a:latin typeface="Consolas"/>
              </a:rPr>
              <a:t>10 / 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E5C40"/>
                </a:solidFill>
                <a:latin typeface="Consolas"/>
              </a:rPr>
              <a:t>UNTAPPED MARKET  ·  PNW CANNABIS DISCOVERY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